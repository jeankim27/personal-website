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61" r:id="rId2"/>
    <p:sldId id="265" r:id="rId3"/>
    <p:sldId id="267" r:id="rId4"/>
    <p:sldId id="26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0960" autoAdjust="0"/>
  </p:normalViewPr>
  <p:slideViewPr>
    <p:cSldViewPr snapToGrid="0">
      <p:cViewPr varScale="1">
        <p:scale>
          <a:sx n="87" d="100"/>
          <a:sy n="87" d="100"/>
        </p:scale>
        <p:origin x="49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0CEDA2-4A8A-4215-8A94-3961D3ACC787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AAE5AB-C5AD-408F-9B9E-1047870CD2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5110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“Thermal Decomposition analysis of AEPS soft goods”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A4E64-DDAA-43AC-8FE7-D462445BDE4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050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PEI: Polyetherimide</a:t>
            </a:r>
          </a:p>
          <a:p>
            <a:r>
              <a:rPr lang="en-US" b="1" dirty="0"/>
              <a:t>PPS: Polyphenylene Sulfide</a:t>
            </a:r>
          </a:p>
          <a:p>
            <a:r>
              <a:rPr lang="en-US" b="1" dirty="0"/>
              <a:t>PEEK: </a:t>
            </a:r>
            <a:r>
              <a:rPr lang="en-US" b="1" dirty="0" err="1"/>
              <a:t>Polyetheretherketone</a:t>
            </a:r>
            <a:r>
              <a:rPr lang="en-US" b="1" dirty="0"/>
              <a:t> </a:t>
            </a:r>
          </a:p>
          <a:p>
            <a:endParaRPr lang="en-US" b="1" dirty="0"/>
          </a:p>
          <a:p>
            <a:r>
              <a:rPr lang="en-US" b="1" dirty="0"/>
              <a:t>TPI: Thermoplastic Polyimide</a:t>
            </a:r>
          </a:p>
          <a:p>
            <a:r>
              <a:rPr lang="en-US" dirty="0"/>
              <a:t>- Short term high temperature resistance is quite high. </a:t>
            </a:r>
          </a:p>
          <a:p>
            <a:r>
              <a:rPr lang="en-US" b="1" dirty="0"/>
              <a:t>PEKK: </a:t>
            </a:r>
            <a:r>
              <a:rPr lang="en-US" b="1" dirty="0" err="1"/>
              <a:t>Polyetherketoneketone</a:t>
            </a:r>
            <a:endParaRPr lang="en-US" b="1" dirty="0"/>
          </a:p>
          <a:p>
            <a:r>
              <a:rPr lang="en-US" dirty="0"/>
              <a:t>- Highest Temp tolerance that can be injection molded.</a:t>
            </a:r>
          </a:p>
          <a:p>
            <a:r>
              <a:rPr lang="en-US" b="1" dirty="0"/>
              <a:t>Thermoset PI: Thermoset Polyimides</a:t>
            </a:r>
          </a:p>
          <a:p>
            <a:r>
              <a:rPr lang="en-US" b="1" dirty="0"/>
              <a:t>Machined PI: Machined Polyimides</a:t>
            </a:r>
          </a:p>
          <a:p>
            <a:r>
              <a:rPr lang="en-US" b="1" dirty="0"/>
              <a:t>PBI: Polybenzimidazole</a:t>
            </a:r>
            <a:br>
              <a:rPr lang="en-US" b="1" dirty="0"/>
            </a:br>
            <a:r>
              <a:rPr lang="en-US" b="0" dirty="0"/>
              <a:t>- Highest-performing engineering plastic in existence.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BBD483-948A-4A47-8105-6F15EE281A1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5665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BC015-E351-1BDE-7660-1C9B68CD46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66DFA5-F581-D8B3-FED8-D50EB7AD06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AACD03-C20C-929E-9AA0-04643982B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E4D05-4066-48A1-BFE8-DB6ECD2EC81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CBC3AD-248F-0E3C-405B-BDD8AC4FC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CC08AC-4031-60D0-EF24-886D9F4C2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3BB60-27AE-44BD-A199-9AE9358AE6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6211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A7C2B-64C3-D574-72B3-4C20EA230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81CB06-08F0-4F9B-D218-CB3D05AC42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5D9E91-9E13-F527-E153-4261F5D8B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E4D05-4066-48A1-BFE8-DB6ECD2EC81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D46260-C907-131A-52BF-F8AAF0E36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9ECB79-0756-ADB2-5DC9-761FA106A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3BB60-27AE-44BD-A199-9AE9358AE6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305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E0488-7457-2E34-3BC5-388CE36110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D7DFE4-7ABD-6C49-A293-5C97C51CCC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A13A8B-87CC-787F-D803-7A5B1DBD3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E4D05-4066-48A1-BFE8-DB6ECD2EC81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C0F4C5-A166-62A0-EB32-ECFAD86A8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E6629F-3DB3-A3C1-3365-DCDCC2B01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3BB60-27AE-44BD-A199-9AE9358AE6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7716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8F17E-82D2-EF1F-D78E-715CAC7239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B7B8FA-6A7D-72D2-F390-964381C16D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E7920A-FE8A-0816-2560-B8C274DA21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B3C7C5-BAA5-8CB0-CB27-269F72267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E4D05-4066-48A1-BFE8-DB6ECD2EC81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9DB437-458F-3354-BB67-2B5EB7547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CAE77B-8D4A-9CDE-B07E-21E2D2412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3BB60-27AE-44BD-A199-9AE9358AE6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9574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652C8-3E15-0E7C-EAB6-2536020EB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B33F0F-001E-DB11-D86E-DE929267B7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361533-44BC-9CAD-E620-73B95B3924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1546B9-759F-8090-DA26-503CDDCEA0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81B27A-C580-2BD1-6ECA-EC0EED6F14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6F35CA-52E6-3122-18EC-30AF628ED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E4D05-4066-48A1-BFE8-DB6ECD2EC81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C1135B-EDBA-3438-EE03-73D8C30DA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964365-21EA-55C5-A925-A33B4766A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3BB60-27AE-44BD-A199-9AE9358AE6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5197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9A29C-4248-1853-9E71-CBAFF50B6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2165D1-8E24-8747-5964-E8CDA26688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E4D05-4066-48A1-BFE8-DB6ECD2EC81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A8302F-230C-8556-054C-5AE5940A5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3E8D6E-2BB4-0B20-BFE4-A7CFA308A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3BB60-27AE-44BD-A199-9AE9358AE6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6738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49E31F-9EA8-37EA-EA1A-0672CE634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E4D05-4066-48A1-BFE8-DB6ECD2EC81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883A86-D8CD-85C8-7049-2B5953002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33C9DE-3C0C-A72B-546E-17CD53CFF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3BB60-27AE-44BD-A199-9AE9358AE6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4724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8BCD7-9079-CAC2-F6E9-89A1F6C45C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E0BF32-BA38-F43B-983D-1012D223F3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3DDCB7-3B40-B176-AFDB-690C4ABF84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84556D-C0CD-E8BF-72EE-9B962D450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E4D05-4066-48A1-BFE8-DB6ECD2EC81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0E69DF-A049-9593-627B-1EAB7EFFE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B52575-8F88-58AC-8544-8D5228971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3BB60-27AE-44BD-A199-9AE9358AE6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84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E321B-ADEC-DBEF-FA92-A1106B634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2D0904-0787-7DBF-8343-91826A961E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0363C0-BB62-1EF4-D250-AEDA37F807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65DBEB-27CD-8694-9E83-E258915495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E4D05-4066-48A1-BFE8-DB6ECD2EC81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D7F3BD-95EA-68B9-AA4A-A4CB1F1F3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053FA7-DE6D-9F0C-B28C-C81C352EC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3BB60-27AE-44BD-A199-9AE9358AE6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6589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8FAB4-A854-7553-E156-CA4616F86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549785-746D-2C7C-22C0-F015E38029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F65636-768E-BF26-6FF6-367A5894B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E4D05-4066-48A1-BFE8-DB6ECD2EC81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FEABB2-F2D8-4666-8E97-A45AB75F5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A534F2-E59A-DAF6-BCC7-075347106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3BB60-27AE-44BD-A199-9AE9358AE6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9669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6C0F0CA-C937-2256-02AF-89ED875E0A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6AC73E-98D5-80DD-AC17-41B5792CAA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28E7E8-4153-6E69-A69B-23D38112E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E4D05-4066-48A1-BFE8-DB6ECD2EC81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3214CB-26A9-38DB-92B4-8C8417989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AB6AE0-A474-0C8A-5D11-5B230DBBA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3BB60-27AE-44BD-A199-9AE9358AE6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7761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F4B8B0-A1A5-9C4C-C50D-ACB76DEB2B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365D1D-48A1-43CD-38B8-800F7E6A1D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0476B3-39C1-ACF6-E719-64D057D5A4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8E4D05-4066-48A1-BFE8-DB6ECD2EC81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2CD57F-2C10-71A6-2648-7C261960E3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D614AE-49A8-0253-BF0E-84FFF77AA5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B3BB60-27AE-44BD-A199-9AE9358AE6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8869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satellite&#10;&#10;AI-generated content may be incorrect.">
            <a:extLst>
              <a:ext uri="{FF2B5EF4-FFF2-40B4-BE49-F238E27FC236}">
                <a16:creationId xmlns:a16="http://schemas.microsoft.com/office/drawing/2014/main" id="{3E31CF85-96E0-C40D-866B-90E108C3CF4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9040" b="13373"/>
          <a:stretch>
            <a:fillRect/>
          </a:stretch>
        </p:blipFill>
        <p:spPr>
          <a:xfrm>
            <a:off x="20" y="-22"/>
            <a:ext cx="12191977" cy="685802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3CDFFE-043A-47F3-AFEA-25A125D421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998" y="4399745"/>
            <a:ext cx="9172935" cy="927988"/>
          </a:xfrm>
        </p:spPr>
        <p:txBody>
          <a:bodyPr anchor="t">
            <a:normAutofit fontScale="90000"/>
          </a:bodyPr>
          <a:lstStyle/>
          <a:p>
            <a:pPr algn="l"/>
            <a:r>
              <a:rPr lang="en-US" sz="32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Material Characterization: Polyimides Alternative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2FCA85-97B9-08BC-FBC0-7AC18219BF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9998" y="5256712"/>
            <a:ext cx="5251307" cy="927989"/>
          </a:xfrm>
        </p:spPr>
        <p:txBody>
          <a:bodyPr anchor="b">
            <a:normAutofit fontScale="77500" lnSpcReduction="20000"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Jean Kim, Advanced Polymeric Materials Branch Intern</a:t>
            </a:r>
          </a:p>
          <a:p>
            <a:pPr algn="l"/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Witold Fuchs, 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Ph.D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Advanced Polymeric Materials Branch, M&amp;P Technical Lead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520303F-645E-71A0-AE3A-2C9E4B2630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04522" y="162009"/>
            <a:ext cx="853729" cy="721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988295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>
            <a:extLst>
              <a:ext uri="{FF2B5EF4-FFF2-40B4-BE49-F238E27FC236}">
                <a16:creationId xmlns:a16="http://schemas.microsoft.com/office/drawing/2014/main" id="{02E0CE86-B737-FE6B-193E-1244466409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04522" y="162009"/>
            <a:ext cx="853729" cy="721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A4C3E0C-2E80-F467-9D61-C3CEF7A661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3434343"/>
              </p:ext>
            </p:extLst>
          </p:nvPr>
        </p:nvGraphicFramePr>
        <p:xfrm>
          <a:off x="410935" y="515505"/>
          <a:ext cx="11370130" cy="6003219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2115089">
                  <a:extLst>
                    <a:ext uri="{9D8B030D-6E8A-4147-A177-3AD203B41FA5}">
                      <a16:colId xmlns:a16="http://schemas.microsoft.com/office/drawing/2014/main" val="2661577543"/>
                    </a:ext>
                  </a:extLst>
                </a:gridCol>
                <a:gridCol w="1613825">
                  <a:extLst>
                    <a:ext uri="{9D8B030D-6E8A-4147-A177-3AD203B41FA5}">
                      <a16:colId xmlns:a16="http://schemas.microsoft.com/office/drawing/2014/main" val="902181433"/>
                    </a:ext>
                  </a:extLst>
                </a:gridCol>
                <a:gridCol w="1850404">
                  <a:extLst>
                    <a:ext uri="{9D8B030D-6E8A-4147-A177-3AD203B41FA5}">
                      <a16:colId xmlns:a16="http://schemas.microsoft.com/office/drawing/2014/main" val="2034938341"/>
                    </a:ext>
                  </a:extLst>
                </a:gridCol>
                <a:gridCol w="1147665">
                  <a:extLst>
                    <a:ext uri="{9D8B030D-6E8A-4147-A177-3AD203B41FA5}">
                      <a16:colId xmlns:a16="http://schemas.microsoft.com/office/drawing/2014/main" val="2989109341"/>
                    </a:ext>
                  </a:extLst>
                </a:gridCol>
                <a:gridCol w="4643147">
                  <a:extLst>
                    <a:ext uri="{9D8B030D-6E8A-4147-A177-3AD203B41FA5}">
                      <a16:colId xmlns:a16="http://schemas.microsoft.com/office/drawing/2014/main" val="368051078"/>
                    </a:ext>
                  </a:extLst>
                </a:gridCol>
              </a:tblGrid>
              <a:tr h="653142"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Polymer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u="sng"/>
                        <a:t>Max Temp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Injection Mold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Relative 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Outgas Performance (TML%)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2147641"/>
                  </a:ext>
                </a:extLst>
              </a:tr>
              <a:tr h="646731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PEI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~170C</a:t>
                      </a:r>
                    </a:p>
                  </a:txBody>
                  <a:tcPr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YES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$/2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rowSpan="8">
                  <a:txBody>
                    <a:bodyPr/>
                    <a:lstStyle/>
                    <a:p>
                      <a:pPr algn="ctr"/>
                      <a:r>
                        <a:rPr lang="en-US" sz="1800" b="0" i="1" dirty="0"/>
                        <a:t>Refer to August 4</a:t>
                      </a:r>
                      <a:r>
                        <a:rPr lang="en-US" sz="1800" b="0" i="1" baseline="30000" dirty="0"/>
                        <a:t>th</a:t>
                      </a:r>
                      <a:r>
                        <a:rPr lang="en-US" sz="1800" b="0" i="1" dirty="0"/>
                        <a:t> </a:t>
                      </a:r>
                      <a:r>
                        <a:rPr lang="en-US" sz="1800" b="0" i="1" dirty="0">
                          <a:highlight>
                            <a:srgbClr val="000000"/>
                          </a:highlight>
                        </a:rPr>
                        <a:t>Roxy(Alyssa)’s </a:t>
                      </a:r>
                      <a:r>
                        <a:rPr lang="en-US" sz="1800" b="0" i="1" dirty="0"/>
                        <a:t>presentation for the up-to-date outgassing performance values</a:t>
                      </a:r>
                    </a:p>
                  </a:txBody>
                  <a:tcPr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4934221"/>
                  </a:ext>
                </a:extLst>
              </a:tr>
              <a:tr h="646731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PPS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~200C-220C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YES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$$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2635567"/>
                  </a:ext>
                </a:extLst>
              </a:tr>
              <a:tr h="646731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PEEK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~250C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YES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$$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sz="800" i="1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6936755"/>
                  </a:ext>
                </a:extLst>
              </a:tr>
              <a:tr h="646731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TPI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/>
                        <a:t>~260C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/>
                        <a:t>YES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/>
                        <a:t>$$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sz="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5312594"/>
                  </a:ext>
                </a:extLst>
              </a:tr>
              <a:tr h="646731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PEKK 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/>
                        <a:t>~260C-300C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/>
                        <a:t>YES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/>
                        <a:t>$$$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sz="1600" b="0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4700511"/>
                  </a:ext>
                </a:extLst>
              </a:tr>
              <a:tr h="646731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Thermoset PI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~315-340C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No</a:t>
                      </a:r>
                    </a:p>
                    <a:p>
                      <a:pPr algn="ctr"/>
                      <a:r>
                        <a:rPr lang="en-US" sz="1600"/>
                        <a:t>(Composite/Press)</a:t>
                      </a:r>
                    </a:p>
                  </a:txBody>
                  <a:tcPr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$$$$$$$$$$ (10)</a:t>
                      </a:r>
                    </a:p>
                  </a:txBody>
                  <a:tcPr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5926569"/>
                  </a:ext>
                </a:extLst>
              </a:tr>
              <a:tr h="646731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Machined PI</a:t>
                      </a:r>
                      <a:br>
                        <a:rPr lang="en-US" sz="1600" b="1" dirty="0"/>
                      </a:br>
                      <a:endParaRPr lang="en-US" sz="1600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/>
                        <a:t>~300C </a:t>
                      </a:r>
                    </a:p>
                    <a:p>
                      <a:pPr algn="ctr"/>
                      <a:r>
                        <a:rPr lang="en-US" sz="1600" b="0"/>
                        <a:t>(Short 480C)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/>
                        <a:t>No</a:t>
                      </a:r>
                    </a:p>
                    <a:p>
                      <a:pPr algn="ctr"/>
                      <a:r>
                        <a:rPr lang="en-US" sz="1600" b="0"/>
                        <a:t>(Machined only)</a:t>
                      </a:r>
                    </a:p>
                  </a:txBody>
                  <a:tcPr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$$$$$$$$$$$$$$$$$$ (18)</a:t>
                      </a:r>
                    </a:p>
                  </a:txBody>
                  <a:tcPr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sz="800" b="0" dirty="0"/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2041043"/>
                  </a:ext>
                </a:extLst>
              </a:tr>
              <a:tr h="646731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PBI</a:t>
                      </a:r>
                      <a:br>
                        <a:rPr lang="en-US" sz="1600" b="1" dirty="0"/>
                      </a:br>
                      <a:endParaRPr lang="en-US" sz="1600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~315C-400C (Short 500C)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No</a:t>
                      </a:r>
                    </a:p>
                    <a:p>
                      <a:pPr algn="ctr"/>
                      <a:r>
                        <a:rPr lang="en-US" sz="1600" dirty="0"/>
                        <a:t>(Machined only)</a:t>
                      </a:r>
                    </a:p>
                  </a:txBody>
                  <a:tcPr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$$$$$$$$$$$$$ (13)</a:t>
                      </a:r>
                    </a:p>
                  </a:txBody>
                  <a:tcPr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2272018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E503DEEC-85C5-EDCA-8E11-3A69DB3BEFB0}"/>
              </a:ext>
            </a:extLst>
          </p:cNvPr>
          <p:cNvSpPr txBox="1"/>
          <p:nvPr/>
        </p:nvSpPr>
        <p:spPr>
          <a:xfrm>
            <a:off x="7900323" y="6538215"/>
            <a:ext cx="38807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>
                <a:solidFill>
                  <a:srgbClr val="FF0000"/>
                </a:solidFill>
              </a:rPr>
              <a:t>*Acceptable TML% as per ASTM-E595 standard is 1.00%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77C8EA-35FD-A33F-D4E2-19569EB27BEF}"/>
              </a:ext>
            </a:extLst>
          </p:cNvPr>
          <p:cNvSpPr txBox="1"/>
          <p:nvPr/>
        </p:nvSpPr>
        <p:spPr>
          <a:xfrm>
            <a:off x="6381750" y="126682"/>
            <a:ext cx="29040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Each $ sign is roughly $500.</a:t>
            </a:r>
          </a:p>
        </p:txBody>
      </p:sp>
    </p:spTree>
    <p:extLst>
      <p:ext uri="{BB962C8B-B14F-4D97-AF65-F5344CB8AC3E}">
        <p14:creationId xmlns:p14="http://schemas.microsoft.com/office/powerpoint/2010/main" val="9298182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D99C1E1-656E-D082-5A13-FDCC1F07DA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9473096"/>
              </p:ext>
            </p:extLst>
          </p:nvPr>
        </p:nvGraphicFramePr>
        <p:xfrm>
          <a:off x="691243" y="944880"/>
          <a:ext cx="10795906" cy="475996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3508224">
                  <a:extLst>
                    <a:ext uri="{9D8B030D-6E8A-4147-A177-3AD203B41FA5}">
                      <a16:colId xmlns:a16="http://schemas.microsoft.com/office/drawing/2014/main" val="852171878"/>
                    </a:ext>
                  </a:extLst>
                </a:gridCol>
                <a:gridCol w="4038600">
                  <a:extLst>
                    <a:ext uri="{9D8B030D-6E8A-4147-A177-3AD203B41FA5}">
                      <a16:colId xmlns:a16="http://schemas.microsoft.com/office/drawing/2014/main" val="299233712"/>
                    </a:ext>
                  </a:extLst>
                </a:gridCol>
                <a:gridCol w="3249082">
                  <a:extLst>
                    <a:ext uri="{9D8B030D-6E8A-4147-A177-3AD203B41FA5}">
                      <a16:colId xmlns:a16="http://schemas.microsoft.com/office/drawing/2014/main" val="283134042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600"/>
                        <a:t>Material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Price per Piece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Notes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0393888"/>
                  </a:ext>
                </a:extLst>
              </a:tr>
              <a:tr h="470989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PEI</a:t>
                      </a:r>
                      <a:br>
                        <a:rPr lang="en-US" sz="1600" b="1" dirty="0"/>
                      </a:br>
                      <a:endParaRPr 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$289.36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sz="1600" b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66041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PPS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kern="1200" dirty="0">
                          <a:solidFill>
                            <a:schemeClr val="dk1"/>
                          </a:solidFill>
                          <a:effectLst/>
                        </a:rPr>
                        <a:t>$1,003.05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sz="1600" b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81738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PEEK</a:t>
                      </a:r>
                      <a:br>
                        <a:rPr lang="en-US" sz="1600" b="1" dirty="0"/>
                      </a:br>
                      <a:endParaRPr 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$722.00-772.26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sz="1600" b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35496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TPI</a:t>
                      </a:r>
                      <a:br>
                        <a:rPr lang="en-US" sz="1600" b="1" dirty="0"/>
                      </a:br>
                      <a:endParaRPr 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b="0"/>
                        <a:t>Domestic vendor not available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76770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/>
                        <a:t>PEKK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/>
                        <a:t>$1,000-$2,000+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b="0"/>
                        <a:t>Domestic vendor not available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b="0"/>
                        <a:t>Price may vary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2652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/>
                        <a:t>Thermoset 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/>
                        <a:t>$3,000~$7,000+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b="0"/>
                        <a:t>Domestic vendor not available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b="0"/>
                        <a:t>Price may vary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86018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/>
                        <a:t>Machined PI</a:t>
                      </a:r>
                      <a:br>
                        <a:rPr lang="en-US" sz="1600" b="1" dirty="0"/>
                      </a:br>
                      <a:endParaRPr 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kern="1200" dirty="0">
                          <a:solidFill>
                            <a:schemeClr val="dk1"/>
                          </a:solidFill>
                          <a:effectLst/>
                        </a:rPr>
                        <a:t>$6,000~$12,000</a:t>
                      </a:r>
                      <a:endParaRPr lang="en-US"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b="0"/>
                        <a:t>Domestic vendor not available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b="0"/>
                        <a:t>Price may vary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28362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/>
                        <a:t>PBI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/>
                        <a:t>$4,500+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b="0" dirty="0"/>
                        <a:t>Domestic vendor not available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b="0" dirty="0"/>
                        <a:t>Price may vary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739036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6FEE24F0-CC80-5218-998B-E5052ADBE435}"/>
              </a:ext>
            </a:extLst>
          </p:cNvPr>
          <p:cNvSpPr txBox="1"/>
          <p:nvPr/>
        </p:nvSpPr>
        <p:spPr>
          <a:xfrm>
            <a:off x="691243" y="199477"/>
            <a:ext cx="47884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u="sng">
                <a:latin typeface="+mj-lt"/>
              </a:rPr>
              <a:t>Sheet 12 in × 12 in × 0.5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44B5F666-991B-13F5-8BBB-48F14AA7EC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04522" y="162009"/>
            <a:ext cx="853729" cy="721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82932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4C8C40-C717-564F-6B21-3B056ADE9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E302D4C-2FB2-026D-5DCF-A3929B2F8A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9598079"/>
              </p:ext>
            </p:extLst>
          </p:nvPr>
        </p:nvGraphicFramePr>
        <p:xfrm>
          <a:off x="691243" y="944880"/>
          <a:ext cx="10814958" cy="4331547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4166507">
                  <a:extLst>
                    <a:ext uri="{9D8B030D-6E8A-4147-A177-3AD203B41FA5}">
                      <a16:colId xmlns:a16="http://schemas.microsoft.com/office/drawing/2014/main" val="852171878"/>
                    </a:ext>
                  </a:extLst>
                </a:gridCol>
                <a:gridCol w="1983317">
                  <a:extLst>
                    <a:ext uri="{9D8B030D-6E8A-4147-A177-3AD203B41FA5}">
                      <a16:colId xmlns:a16="http://schemas.microsoft.com/office/drawing/2014/main" val="299233712"/>
                    </a:ext>
                  </a:extLst>
                </a:gridCol>
                <a:gridCol w="4665134">
                  <a:extLst>
                    <a:ext uri="{9D8B030D-6E8A-4147-A177-3AD203B41FA5}">
                      <a16:colId xmlns:a16="http://schemas.microsoft.com/office/drawing/2014/main" val="316967864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600"/>
                        <a:t>Material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Price per Piece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Notes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03938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/>
                        <a:t>PEI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/>
                        <a:t>Domestic vendor not available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66041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PPS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$570.00/kg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/>
                        <a:t>Price may vary.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81738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PEEK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$1380.00/kg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sz="1600" b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35496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TPI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/>
                        <a:t>N/A</a:t>
                      </a:r>
                    </a:p>
                    <a:p>
                      <a:pPr algn="ctr"/>
                      <a:endParaRPr lang="en-US" sz="1600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b="0" dirty="0"/>
                        <a:t>Domestic vendor not available  (Request quote for exact pricing))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7677067"/>
                  </a:ext>
                </a:extLst>
              </a:tr>
              <a:tr h="567267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PEKK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$1650.00/kg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/>
                        <a:t>Price may vary.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2652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Thermoset PI</a:t>
                      </a:r>
                      <a:br>
                        <a:rPr lang="en-US" sz="1600" b="1" dirty="0"/>
                      </a:br>
                      <a:endParaRPr 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/>
                        <a:t>Not injection moldable.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86018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Machined PI</a:t>
                      </a:r>
                      <a:br>
                        <a:rPr lang="en-US" sz="1600" b="1" dirty="0"/>
                      </a:br>
                      <a:endParaRPr 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/>
                        <a:t>Not injection moldable.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28362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PBI</a:t>
                      </a:r>
                      <a:br>
                        <a:rPr lang="en-US" sz="1600" b="1" dirty="0"/>
                      </a:br>
                      <a:endParaRPr 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/>
                        <a:t>Not injection moldable.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739036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4AD9B05-14D3-7B29-90E4-2F2BB857EC43}"/>
              </a:ext>
            </a:extLst>
          </p:cNvPr>
          <p:cNvSpPr txBox="1"/>
          <p:nvPr/>
        </p:nvSpPr>
        <p:spPr>
          <a:xfrm>
            <a:off x="691243" y="213360"/>
            <a:ext cx="72759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u="sng">
                <a:latin typeface="+mj-lt"/>
              </a:rPr>
              <a:t>Granules/Pellets (Injection Molding)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0D50AFB3-DDD7-7967-FB3B-7AEFC1925D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04522" y="162009"/>
            <a:ext cx="853729" cy="721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21618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386</Words>
  <Application>Microsoft Office PowerPoint</Application>
  <PresentationFormat>Widescreen</PresentationFormat>
  <Paragraphs>117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Material Characterization: Polyimides Alternative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Kim, Jean (GRC-LMN0)[Intern]</dc:creator>
  <cp:lastModifiedBy>Kim, Jean (GRC-LMN0)[Intern]</cp:lastModifiedBy>
  <cp:revision>1</cp:revision>
  <dcterms:created xsi:type="dcterms:W3CDTF">2026-08-19T20:49:22Z</dcterms:created>
  <dcterms:modified xsi:type="dcterms:W3CDTF">2026-08-19T20:54:05Z</dcterms:modified>
</cp:coreProperties>
</file>